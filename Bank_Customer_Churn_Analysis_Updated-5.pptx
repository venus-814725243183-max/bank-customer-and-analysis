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4" r:id="rId15"/>
    <p:sldId id="257" r:id="rId3"/>
    <p:sldId id="265" r:id="rId16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3c852af-e894-b0db-aa1f-fb7cfa259fae}">
          <p14:sldIdLst>
            <p14:sldId id="256"/>
          </p14:sldIdLst>
        </p14:section>
        <p14:section name="Introduction" id="{5c0660e4-a61c-50ba-5d46-0176d85acc99}">
          <p14:sldIdLst>
            <p14:sldId id="257"/>
          </p14:sldIdLst>
        </p14:section>
        <p14:section name="Methodology" id="{143bc7f8-7aa1-e867-b66c-79a54011ac39}">
          <p14:sldIdLst>
            <p14:sldId id="258"/>
            <p14:sldId id="259"/>
          </p14:sldIdLst>
        </p14:section>
        <p14:section name="Heatmap" id="{1f5f5bba-5e22-ff28-afdc-05577d41ca80}">
          <p14:sldIdLst>
            <p14:sldId id="260"/>
          </p14:sldIdLst>
        </p14:section>
        <p14:section name="Statistics" id="{689247d8-9ae7-229d-3c2f-9d2f5e2394fd}">
          <p14:sldIdLst>
            <p14:sldId id="261"/>
            <p14:sldId id="262"/>
          </p14:sldIdLst>
        </p14:section>
        <p14:section name="Conclusion" id="{333ffe82-c773-3c2b-a87c-058560cf5a75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2D2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2D2A"/>
                </a:solidFill>
                <a:latin typeface="+mn-lt"/>
              </a:rPr>
              <a:t>Churn rate by age group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&lt;30</c:v>
                  </c:pt>
                  <c:pt idx="1">
                    <c:v>30–39</c:v>
                  </c:pt>
                  <c:pt idx="2">
                    <c:v>40–49</c:v>
                  </c:pt>
                  <c:pt idx="3">
                    <c:v>50–59</c:v>
                  </c:pt>
                  <c:pt idx="4">
                    <c:v>60+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7.5</c:v>
                </c:pt>
                <c:pt idx="1">
                  <c:v>12</c:v>
                </c:pt>
                <c:pt idx="2">
                  <c:v>34</c:v>
                </c:pt>
                <c:pt idx="3">
                  <c:v>56</c:v>
                </c:pt>
                <c:pt idx="4">
                  <c:v>25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A2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2D2A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2D2A"/>
                </a:solidFill>
                <a:latin typeface="+mn-lt"/>
              </a:rPr>
              <a:t>Churn rate by number of products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%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2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 product</c:v>
                  </c:pt>
                  <c:pt idx="1">
                    <c:v>2 products</c:v>
                  </c:pt>
                  <c:pt idx="2">
                    <c:v>3 products</c:v>
                  </c:pt>
                  <c:pt idx="3">
                    <c:v>4 products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27.7</c:v>
                </c:pt>
                <c:pt idx="1">
                  <c:v>7.6</c:v>
                </c:pt>
                <c:pt idx="2">
                  <c:v>82.7</c:v>
                </c:pt>
                <c:pt idx="3">
                  <c:v>100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A2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77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D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large"/>
          <p:cNvSpPr/>
          <p:nvPr/>
        </p:nvSpPr>
        <p:spPr>
          <a:xfrm>
            <a:off x="6035040" y="822960"/>
            <a:ext cx="3108960" cy="3108960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  <p:txBody>
          <a:bodyPr/>
          <a:p/>
        </p:txBody>
      </p:sp>
      <p:sp>
        <p:nvSpPr>
          <p:cNvPr id="3" name="Motif small"/>
          <p:cNvSpPr/>
          <p:nvPr/>
        </p:nvSpPr>
        <p:spPr>
          <a:xfrm>
            <a:off x="6858000" y="2377440"/>
            <a:ext cx="1828800" cy="1828800"/>
          </a:xfrm>
          <a:prstGeom prst="ellipse">
            <a:avLst/>
          </a:prstGeom>
          <a:solidFill>
            <a:schemeClr val="accent2">
              <a:alpha val="40000"/>
            </a:schemeClr>
          </a:solidFill>
          <a:ln/>
        </p:spPr>
        <p:txBody>
          <a:bodyPr/>
          <a:p/>
        </p:txBody>
      </p:sp>
      <p:sp>
        <p:nvSpPr>
          <p:cNvPr id="4" name="Deck title"/>
          <p:cNvSpPr txBox="1"/>
          <p:nvPr/>
        </p:nvSpPr>
        <p:spPr>
          <a:xfrm>
            <a:off x="548640" y="128016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Customer Churn Analysis</a:t>
            </a:r>
            <a:endParaRPr lang="en-US" sz="44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01752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Who leaves, why they leave, and what to do about it</a:t>
            </a:r>
            <a:endParaRPr lang="en-US" sz="18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>
              <a:defRPr sz="1000">
                <a:solidFill>
                  <a:srgbClr val="5B6C7D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Why customer churn matters</a:t>
            </a:r>
            <a:endParaRPr lang="en-US" sz="3200" dirty="0"/>
          </a:p>
        </p:txBody>
      </p:sp>
      <p:sp>
        <p:nvSpPr>
          <p:cNvPr id="3" name="Intro bullets"/>
          <p:cNvSpPr txBox="1"/>
          <p:nvPr/>
        </p:nvSpPr>
        <p:spPr>
          <a:xfrm>
            <a:off x="548640" y="137160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Churn is customers closing accounts or moving to another bank.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Winning a new customer costs far more than keeping an existing one.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Goal: find the profiles most likely to leave, so retention effort can be targeted early.</a:t>
            </a:r>
            <a:endParaRPr lang="en-US" sz="1600" dirty="0"/>
          </a:p>
        </p:txBody>
      </p:sp>
      <p:sp>
        <p:nvSpPr>
          <p:cNvPr id="4" name="Stat card 1"/>
          <p:cNvSpPr/>
          <p:nvPr/>
        </p:nvSpPr>
        <p:spPr>
          <a:xfrm>
            <a:off x="5486400" y="1371600"/>
            <a:ext cx="31089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5" name="Stat value 1"/>
          <p:cNvSpPr txBox="1"/>
          <p:nvPr/>
        </p:nvSpPr>
        <p:spPr>
          <a:xfrm>
            <a:off x="5669280" y="14630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3000" dirty="0"/>
          </a:p>
        </p:txBody>
      </p:sp>
      <p:sp>
        <p:nvSpPr>
          <p:cNvPr id="6" name="Stat label 1"/>
          <p:cNvSpPr txBox="1"/>
          <p:nvPr/>
        </p:nvSpPr>
        <p:spPr>
          <a:xfrm>
            <a:off x="7086600" y="146304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customers analysed</a:t>
            </a:r>
            <a:endParaRPr lang="en-US" sz="1400" dirty="0"/>
          </a:p>
        </p:txBody>
      </p:sp>
      <p:sp>
        <p:nvSpPr>
          <p:cNvPr id="7" name="Stat card 2"/>
          <p:cNvSpPr/>
          <p:nvPr/>
        </p:nvSpPr>
        <p:spPr>
          <a:xfrm>
            <a:off x="5486400" y="2423160"/>
            <a:ext cx="31089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8" name="Stat value 2"/>
          <p:cNvSpPr txBox="1"/>
          <p:nvPr/>
        </p:nvSpPr>
        <p:spPr>
          <a:xfrm>
            <a:off x="5669280" y="25146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9" name="Stat label 2"/>
          <p:cNvSpPr txBox="1"/>
          <p:nvPr/>
        </p:nvSpPr>
        <p:spPr>
          <a:xfrm>
            <a:off x="7086600" y="251460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customer attributes</a:t>
            </a:r>
            <a:endParaRPr lang="en-US" sz="1400" dirty="0"/>
          </a:p>
        </p:txBody>
      </p:sp>
      <p:sp>
        <p:nvSpPr>
          <p:cNvPr id="10" name="Stat card 3"/>
          <p:cNvSpPr/>
          <p:nvPr/>
        </p:nvSpPr>
        <p:spPr>
          <a:xfrm>
            <a:off x="5486400" y="3474720"/>
            <a:ext cx="31089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1" name="Stat value 3"/>
          <p:cNvSpPr txBox="1"/>
          <p:nvPr/>
        </p:nvSpPr>
        <p:spPr>
          <a:xfrm>
            <a:off x="5669280" y="35661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20.4%</a:t>
            </a:r>
            <a:endParaRPr lang="en-US" sz="3000" dirty="0"/>
          </a:p>
        </p:txBody>
      </p:sp>
      <p:sp>
        <p:nvSpPr>
          <p:cNvPr id="12" name="Stat label 3"/>
          <p:cNvSpPr txBox="1"/>
          <p:nvPr/>
        </p:nvSpPr>
        <p:spPr>
          <a:xfrm>
            <a:off x="7086600" y="3566160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churned (2,037)</a:t>
            </a:r>
            <a:endParaRPr lang="en-US" sz="1400" dirty="0"/>
          </a:p>
        </p:txBody>
      </p:sp>
      <p:sp>
        <p:nvSpPr>
          <p:cNvPr id="13" name="Source note"/>
          <p:cNvSpPr txBox="1"/>
          <p:nvPr/>
        </p:nvSpPr>
        <p:spPr>
          <a:xfrm>
            <a:off x="548640" y="46634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Data: public bank customer churn dataset (Churn Modelling). Replace with your own figures if needed.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>
              <a:defRPr sz="1000">
                <a:solidFill>
                  <a:srgbClr val="5B6C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Analytical pipeline</a:t>
            </a:r>
            <a:endParaRPr lang="en-US" sz="3200" dirty="0"/>
          </a:p>
        </p:txBody>
      </p:sp>
      <p:sp>
        <p:nvSpPr>
          <p:cNvPr id="3" name="Step card 1"/>
          <p:cNvSpPr/>
          <p:nvPr/>
        </p:nvSpPr>
        <p:spPr>
          <a:xfrm>
            <a:off x="548640" y="1371600"/>
            <a:ext cx="1371600" cy="283464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4" name="Step badge 1"/>
          <p:cNvSpPr/>
          <p:nvPr/>
        </p:nvSpPr>
        <p:spPr>
          <a:xfrm>
            <a:off x="685800" y="15544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5" name="Step number 1"/>
          <p:cNvSpPr txBox="1"/>
          <p:nvPr/>
        </p:nvSpPr>
        <p:spPr>
          <a:xfrm>
            <a:off x="6858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tep title 1"/>
          <p:cNvSpPr txBox="1"/>
          <p:nvPr/>
        </p:nvSpPr>
        <p:spPr>
          <a:xfrm>
            <a:off x="685800" y="21945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Ingest</a:t>
            </a:r>
            <a:endParaRPr lang="en-US" sz="1600" dirty="0"/>
          </a:p>
        </p:txBody>
      </p:sp>
      <p:sp>
        <p:nvSpPr>
          <p:cNvPr id="7" name="Step text 1"/>
          <p:cNvSpPr txBox="1"/>
          <p:nvPr/>
        </p:nvSpPr>
        <p:spPr>
          <a:xfrm>
            <a:off x="685800" y="2606040"/>
            <a:ext cx="1143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Pull data from bank source systems</a:t>
            </a:r>
            <a:endParaRPr lang="en-US" sz="1400" dirty="0"/>
          </a:p>
        </p:txBody>
      </p:sp>
      <p:sp>
        <p:nvSpPr>
          <p:cNvPr id="8" name="Step arrow 1"/>
          <p:cNvSpPr/>
          <p:nvPr/>
        </p:nvSpPr>
        <p:spPr>
          <a:xfrm>
            <a:off x="1965960" y="2606040"/>
            <a:ext cx="228600" cy="274320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p/>
        </p:txBody>
      </p:sp>
      <p:sp>
        <p:nvSpPr>
          <p:cNvPr id="9" name="Step card 2"/>
          <p:cNvSpPr/>
          <p:nvPr/>
        </p:nvSpPr>
        <p:spPr>
          <a:xfrm>
            <a:off x="2217420" y="1371600"/>
            <a:ext cx="1371600" cy="283464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0" name="Step badge 2"/>
          <p:cNvSpPr/>
          <p:nvPr/>
        </p:nvSpPr>
        <p:spPr>
          <a:xfrm>
            <a:off x="2354580" y="15544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11" name="Step number 2"/>
          <p:cNvSpPr txBox="1"/>
          <p:nvPr/>
        </p:nvSpPr>
        <p:spPr>
          <a:xfrm>
            <a:off x="23545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tep title 2"/>
          <p:cNvSpPr txBox="1"/>
          <p:nvPr/>
        </p:nvSpPr>
        <p:spPr>
          <a:xfrm>
            <a:off x="2354580" y="21945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Clean</a:t>
            </a:r>
            <a:endParaRPr lang="en-US" sz="1600" dirty="0"/>
          </a:p>
        </p:txBody>
      </p:sp>
      <p:sp>
        <p:nvSpPr>
          <p:cNvPr id="13" name="Step text 2"/>
          <p:cNvSpPr txBox="1"/>
          <p:nvPr/>
        </p:nvSpPr>
        <p:spPr>
          <a:xfrm>
            <a:off x="2354580" y="2606040"/>
            <a:ext cx="1143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Fix missing values and remove duplicates</a:t>
            </a:r>
            <a:endParaRPr lang="en-US" sz="1400" dirty="0"/>
          </a:p>
        </p:txBody>
      </p:sp>
      <p:sp>
        <p:nvSpPr>
          <p:cNvPr id="14" name="Step arrow 2"/>
          <p:cNvSpPr/>
          <p:nvPr/>
        </p:nvSpPr>
        <p:spPr>
          <a:xfrm>
            <a:off x="3634740" y="2606040"/>
            <a:ext cx="228600" cy="274320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p/>
        </p:txBody>
      </p:sp>
      <p:sp>
        <p:nvSpPr>
          <p:cNvPr id="15" name="Step card 3"/>
          <p:cNvSpPr/>
          <p:nvPr/>
        </p:nvSpPr>
        <p:spPr>
          <a:xfrm>
            <a:off x="3886200" y="1371600"/>
            <a:ext cx="1371600" cy="283464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6" name="Step badge 3"/>
          <p:cNvSpPr/>
          <p:nvPr/>
        </p:nvSpPr>
        <p:spPr>
          <a:xfrm>
            <a:off x="4023360" y="15544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17" name="Step number 3"/>
          <p:cNvSpPr txBox="1"/>
          <p:nvPr/>
        </p:nvSpPr>
        <p:spPr>
          <a:xfrm>
            <a:off x="402336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Step title 3"/>
          <p:cNvSpPr txBox="1"/>
          <p:nvPr/>
        </p:nvSpPr>
        <p:spPr>
          <a:xfrm>
            <a:off x="4023360" y="21945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Engineer</a:t>
            </a:r>
            <a:endParaRPr lang="en-US" sz="1600" dirty="0"/>
          </a:p>
        </p:txBody>
      </p:sp>
      <p:sp>
        <p:nvSpPr>
          <p:cNvPr id="19" name="Step text 3"/>
          <p:cNvSpPr txBox="1"/>
          <p:nvPr/>
        </p:nvSpPr>
        <p:spPr>
          <a:xfrm>
            <a:off x="4023360" y="2606040"/>
            <a:ext cx="1143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age bands, balance and activity flags</a:t>
            </a:r>
            <a:endParaRPr lang="en-US" sz="1400" dirty="0"/>
          </a:p>
        </p:txBody>
      </p:sp>
      <p:sp>
        <p:nvSpPr>
          <p:cNvPr id="20" name="Step arrow 3"/>
          <p:cNvSpPr/>
          <p:nvPr/>
        </p:nvSpPr>
        <p:spPr>
          <a:xfrm>
            <a:off x="5303520" y="2606040"/>
            <a:ext cx="228600" cy="274320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p/>
        </p:txBody>
      </p:sp>
      <p:sp>
        <p:nvSpPr>
          <p:cNvPr id="21" name="Step card 4"/>
          <p:cNvSpPr/>
          <p:nvPr/>
        </p:nvSpPr>
        <p:spPr>
          <a:xfrm>
            <a:off x="5554980" y="1371600"/>
            <a:ext cx="1371600" cy="283464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22" name="Step badge 4"/>
          <p:cNvSpPr/>
          <p:nvPr/>
        </p:nvSpPr>
        <p:spPr>
          <a:xfrm>
            <a:off x="5692140" y="15544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p/>
        </p:txBody>
      </p:sp>
      <p:sp>
        <p:nvSpPr>
          <p:cNvPr id="23" name="Step number 4"/>
          <p:cNvSpPr txBox="1"/>
          <p:nvPr/>
        </p:nvSpPr>
        <p:spPr>
          <a:xfrm>
            <a:off x="569214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Step title 4"/>
          <p:cNvSpPr txBox="1"/>
          <p:nvPr/>
        </p:nvSpPr>
        <p:spPr>
          <a:xfrm>
            <a:off x="5692140" y="21945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Analyse</a:t>
            </a:r>
            <a:endParaRPr lang="en-US" sz="1600" dirty="0"/>
          </a:p>
        </p:txBody>
      </p:sp>
      <p:sp>
        <p:nvSpPr>
          <p:cNvPr id="25" name="Step text 4"/>
          <p:cNvSpPr txBox="1"/>
          <p:nvPr/>
        </p:nvSpPr>
        <p:spPr>
          <a:xfrm>
            <a:off x="5692140" y="2606040"/>
            <a:ext cx="1143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Correlations and churn rates by segment</a:t>
            </a:r>
            <a:endParaRPr lang="en-US" sz="1400" dirty="0"/>
          </a:p>
        </p:txBody>
      </p:sp>
      <p:sp>
        <p:nvSpPr>
          <p:cNvPr id="26" name="Step arrow 4"/>
          <p:cNvSpPr/>
          <p:nvPr/>
        </p:nvSpPr>
        <p:spPr>
          <a:xfrm>
            <a:off x="6972300" y="2606040"/>
            <a:ext cx="228600" cy="274320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p/>
        </p:txBody>
      </p:sp>
      <p:sp>
        <p:nvSpPr>
          <p:cNvPr id="27" name="Step card 5"/>
          <p:cNvSpPr/>
          <p:nvPr/>
        </p:nvSpPr>
        <p:spPr>
          <a:xfrm>
            <a:off x="7223760" y="1371600"/>
            <a:ext cx="1371600" cy="283464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28" name="Step badge 5"/>
          <p:cNvSpPr/>
          <p:nvPr/>
        </p:nvSpPr>
        <p:spPr>
          <a:xfrm>
            <a:off x="7360920" y="1554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29" name="Step number 5"/>
          <p:cNvSpPr txBox="1"/>
          <p:nvPr/>
        </p:nvSpPr>
        <p:spPr>
          <a:xfrm>
            <a:off x="73609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Step title 5"/>
          <p:cNvSpPr txBox="1"/>
          <p:nvPr/>
        </p:nvSpPr>
        <p:spPr>
          <a:xfrm>
            <a:off x="7360920" y="21945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Report</a:t>
            </a:r>
            <a:endParaRPr lang="en-US" sz="1600" dirty="0"/>
          </a:p>
        </p:txBody>
      </p:sp>
      <p:sp>
        <p:nvSpPr>
          <p:cNvPr id="31" name="Step text 5"/>
          <p:cNvSpPr txBox="1"/>
          <p:nvPr/>
        </p:nvSpPr>
        <p:spPr>
          <a:xfrm>
            <a:off x="7360920" y="2606040"/>
            <a:ext cx="1143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Dashboards and retention actions</a:t>
            </a:r>
            <a:endParaRPr lang="en-US" sz="1400" dirty="0"/>
          </a:p>
        </p:txBody>
      </p:sp>
      <p:sp>
        <p:nvSpPr>
          <p:cNvPr id="32" name="Source note"/>
          <p:cNvSpPr txBox="1"/>
          <p:nvPr/>
        </p:nvSpPr>
        <p:spPr>
          <a:xfrm>
            <a:off x="548640" y="46634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Each stage is rerun on new data so churn scores stay current.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>
              <a:defRPr sz="1000">
                <a:solidFill>
                  <a:srgbClr val="5B6C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Data integration</a:t>
            </a:r>
            <a:endParaRPr lang="en-US" sz="3200" dirty="0"/>
          </a:p>
        </p:txBody>
      </p:sp>
      <p:sp>
        <p:nvSpPr>
          <p:cNvPr id="3" name="Source card 1"/>
          <p:cNvSpPr/>
          <p:nvPr/>
        </p:nvSpPr>
        <p:spPr>
          <a:xfrm>
            <a:off x="548640" y="1280160"/>
            <a:ext cx="274320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4" name="Source text 1"/>
          <p:cNvSpPr txBox="1"/>
          <p:nvPr/>
        </p:nvSpPr>
        <p:spPr>
          <a:xfrm>
            <a:off x="685800" y="13258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Core banking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Balance, tenure, account status</a:t>
            </a:r>
            <a:endParaRPr lang="en-US" sz="1400" dirty="0"/>
          </a:p>
        </p:txBody>
      </p:sp>
      <p:sp>
        <p:nvSpPr>
          <p:cNvPr id="5" name="Source card 2"/>
          <p:cNvSpPr/>
          <p:nvPr/>
        </p:nvSpPr>
        <p:spPr>
          <a:xfrm>
            <a:off x="548640" y="2057400"/>
            <a:ext cx="274320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6" name="Source text 2"/>
          <p:cNvSpPr txBox="1"/>
          <p:nvPr/>
        </p:nvSpPr>
        <p:spPr>
          <a:xfrm>
            <a:off x="685800" y="21031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CRM profile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Age, gender, geography</a:t>
            </a:r>
            <a:endParaRPr lang="en-US" sz="1400" dirty="0"/>
          </a:p>
        </p:txBody>
      </p:sp>
      <p:sp>
        <p:nvSpPr>
          <p:cNvPr id="7" name="Source card 3"/>
          <p:cNvSpPr/>
          <p:nvPr/>
        </p:nvSpPr>
        <p:spPr>
          <a:xfrm>
            <a:off x="548640" y="2834640"/>
            <a:ext cx="274320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8" name="Source text 3"/>
          <p:cNvSpPr txBox="1"/>
          <p:nvPr/>
        </p:nvSpPr>
        <p:spPr>
          <a:xfrm>
            <a:off x="685800" y="28803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Card and channel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Card ownership, activity level</a:t>
            </a:r>
            <a:endParaRPr lang="en-US" sz="1400" dirty="0"/>
          </a:p>
        </p:txBody>
      </p:sp>
      <p:sp>
        <p:nvSpPr>
          <p:cNvPr id="9" name="Source card 4"/>
          <p:cNvSpPr/>
          <p:nvPr/>
        </p:nvSpPr>
        <p:spPr>
          <a:xfrm>
            <a:off x="548640" y="3611880"/>
            <a:ext cx="2743200" cy="640080"/>
          </a:xfrm>
          <a:prstGeom prst="roundRect">
            <a:avLst>
              <a:gd name="adj" fmla="val 17143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0" name="Source text 4"/>
          <p:cNvSpPr txBox="1"/>
          <p:nvPr/>
        </p:nvSpPr>
        <p:spPr>
          <a:xfrm>
            <a:off x="685800" y="36576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Product holdings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Number of products held</a:t>
            </a:r>
            <a:endParaRPr lang="en-US" sz="1400" dirty="0"/>
          </a:p>
        </p:txBody>
      </p:sp>
      <p:sp>
        <p:nvSpPr>
          <p:cNvPr id="11" name="Arrow in"/>
          <p:cNvSpPr/>
          <p:nvPr/>
        </p:nvSpPr>
        <p:spPr>
          <a:xfrm>
            <a:off x="3429000" y="2560320"/>
            <a:ext cx="457200" cy="365760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p/>
        </p:txBody>
      </p:sp>
      <p:sp>
        <p:nvSpPr>
          <p:cNvPr id="12" name="Unified table box"/>
          <p:cNvSpPr/>
          <p:nvPr/>
        </p:nvSpPr>
        <p:spPr>
          <a:xfrm>
            <a:off x="4023360" y="1280160"/>
            <a:ext cx="2011680" cy="2971800"/>
          </a:xfrm>
          <a:prstGeom prst="roundRect">
            <a:avLst>
              <a:gd name="adj" fmla="val 5455"/>
            </a:avLst>
          </a:prstGeom>
          <a:solidFill>
            <a:schemeClr val="tx2"/>
          </a:solidFill>
          <a:ln/>
        </p:spPr>
        <p:txBody>
          <a:bodyPr/>
          <a:p/>
        </p:txBody>
      </p:sp>
      <p:sp>
        <p:nvSpPr>
          <p:cNvPr id="13" name="Unified table text"/>
          <p:cNvSpPr txBox="1"/>
          <p:nvPr/>
        </p:nvSpPr>
        <p:spPr>
          <a:xfrm>
            <a:off x="4160520" y="1463040"/>
            <a:ext cx="17373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Unified customer table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accent5"/>
                </a:solidFill>
              </a:rPr>
              <a:t>One row per customer, joined on Customer ID</a:t>
            </a:r>
            <a:endParaRPr lang="en-US" sz="1800" dirty="0"/>
          </a:p>
        </p:txBody>
      </p:sp>
      <p:sp>
        <p:nvSpPr>
          <p:cNvPr id="14" name="Arrow out"/>
          <p:cNvSpPr/>
          <p:nvPr/>
        </p:nvSpPr>
        <p:spPr>
          <a:xfrm>
            <a:off x="6172200" y="2560320"/>
            <a:ext cx="457200" cy="365760"/>
          </a:xfrm>
          <a:prstGeom prst="rightArrow">
            <a:avLst/>
          </a:prstGeom>
          <a:solidFill>
            <a:schemeClr val="accent6"/>
          </a:solidFill>
          <a:ln/>
        </p:spPr>
        <p:txBody>
          <a:bodyPr/>
          <a:p/>
        </p:txBody>
      </p:sp>
      <p:sp>
        <p:nvSpPr>
          <p:cNvPr id="15" name="Output card 1"/>
          <p:cNvSpPr/>
          <p:nvPr/>
        </p:nvSpPr>
        <p:spPr>
          <a:xfrm>
            <a:off x="6766560" y="1280160"/>
            <a:ext cx="18288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6" name="Output text 1"/>
          <p:cNvSpPr txBox="1"/>
          <p:nvPr/>
        </p:nvSpPr>
        <p:spPr>
          <a:xfrm>
            <a:off x="6903720" y="132588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Churn flag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Left the bank: yes or no</a:t>
            </a:r>
            <a:endParaRPr lang="en-US" sz="1400" dirty="0"/>
          </a:p>
        </p:txBody>
      </p:sp>
      <p:sp>
        <p:nvSpPr>
          <p:cNvPr id="17" name="Output card 2"/>
          <p:cNvSpPr/>
          <p:nvPr/>
        </p:nvSpPr>
        <p:spPr>
          <a:xfrm>
            <a:off x="6766560" y="2331720"/>
            <a:ext cx="18288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8" name="Output text 2"/>
          <p:cNvSpPr txBox="1"/>
          <p:nvPr/>
        </p:nvSpPr>
        <p:spPr>
          <a:xfrm>
            <a:off x="6903720" y="23774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Features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Model-ready attributes</a:t>
            </a:r>
            <a:endParaRPr lang="en-US" sz="1400" dirty="0"/>
          </a:p>
        </p:txBody>
      </p:sp>
      <p:sp>
        <p:nvSpPr>
          <p:cNvPr id="19" name="Output card 3"/>
          <p:cNvSpPr/>
          <p:nvPr/>
        </p:nvSpPr>
        <p:spPr>
          <a:xfrm>
            <a:off x="6766560" y="3383280"/>
            <a:ext cx="18288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20" name="Output text 3"/>
          <p:cNvSpPr txBox="1"/>
          <p:nvPr/>
        </p:nvSpPr>
        <p:spPr>
          <a:xfrm>
            <a:off x="6903720" y="342900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Segments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Age, region, activity groups</a:t>
            </a:r>
            <a:endParaRPr lang="en-US" sz="1400" dirty="0"/>
          </a:p>
        </p:txBody>
      </p:sp>
      <p:sp>
        <p:nvSpPr>
          <p:cNvPr id="21" name="Source note"/>
          <p:cNvSpPr txBox="1"/>
          <p:nvPr/>
        </p:nvSpPr>
        <p:spPr>
          <a:xfrm>
            <a:off x="548640" y="46634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Joined on a shared customer ID; duplicate and mismatched records are resolved before analysis.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>
              <a:defRPr sz="1000">
                <a:solidFill>
                  <a:srgbClr val="5B6C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Correlation heatmap</a:t>
            </a:r>
            <a:endParaRPr lang="en-US" sz="3200" dirty="0"/>
          </a:p>
        </p:txBody>
      </p:sp>
      <p:graphicFrame>
        <p:nvGraphicFramePr>
          <p:cNvPr id="6" name="Correlation heatmap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56235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85800"/>
                <a:gridCol w="685800"/>
                <a:gridCol w="685800"/>
                <a:gridCol w="685800"/>
                <a:gridCol w="685800"/>
                <a:gridCol w="685800"/>
                <a:gridCol w="685800"/>
              </a:tblGrid>
              <a:tr h="39319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2D2A"/>
                          </a:solidFill>
                        </a:rPr>
                        <a:t>Age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2D2A"/>
                          </a:solidFill>
                        </a:rPr>
                        <a:t>Balance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2D2A"/>
                          </a:solidFill>
                        </a:rPr>
                        <a:t>Prod.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2D2A"/>
                          </a:solidFill>
                        </a:rPr>
                        <a:t>Active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2D2A"/>
                          </a:solidFill>
                        </a:rPr>
                        <a:t>Credit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2D2A"/>
                          </a:solidFill>
                        </a:rPr>
                        <a:t>Tenure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F2D2A"/>
                          </a:solidFill>
                        </a:rPr>
                        <a:t>Churn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2D2A"/>
                          </a:solidFill>
                        </a:rPr>
                        <a:t>Age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9"/>
                          </a:solidFill>
                        </a:rPr>
                        <a:t>0.03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9"/>
                          </a:solidFill>
                        </a:rPr>
                        <a:t>-0.03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9"/>
                          </a:solidFill>
                        </a:rPr>
                        <a:t>0.09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0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9"/>
                          </a:solidFill>
                        </a:rPr>
                        <a:t>0.00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9"/>
                          </a:solidFill>
                        </a:rPr>
                        <a:t>-0.01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0.29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74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2D2A"/>
                          </a:solidFill>
                        </a:rPr>
                        <a:t>Balance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9"/>
                          </a:solidFill>
                        </a:rPr>
                        <a:t>0.03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-0.30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9F9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9"/>
                          </a:solidFill>
                        </a:rPr>
                        <a:t>-0.01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9"/>
                          </a:solidFill>
                        </a:rPr>
                        <a:t>0.01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9"/>
                          </a:solidFill>
                        </a:rPr>
                        <a:t>-0.01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9"/>
                          </a:solidFill>
                        </a:rPr>
                        <a:t>0.12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0B1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2D2A"/>
                          </a:solidFill>
                        </a:rPr>
                        <a:t>Prod.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9"/>
                          </a:solidFill>
                        </a:rPr>
                        <a:t>-0.03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-0.30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9F9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9"/>
                          </a:solidFill>
                        </a:rPr>
                        <a:t>0.01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9"/>
                          </a:solidFill>
                        </a:rPr>
                        <a:t>0.01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9"/>
                          </a:solidFill>
                        </a:rPr>
                        <a:t>0.01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9"/>
                          </a:solidFill>
                        </a:rPr>
                        <a:t>-0.05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E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2D2A"/>
                          </a:solidFill>
                        </a:rPr>
                        <a:t>Active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9"/>
                          </a:solidFill>
                        </a:rPr>
                        <a:t>0.09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0C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9"/>
                          </a:solidFill>
                        </a:rPr>
                        <a:t>-0.01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9"/>
                          </a:solidFill>
                        </a:rPr>
                        <a:t>0.01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9"/>
                          </a:solidFill>
                        </a:rPr>
                        <a:t>0.03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9"/>
                          </a:solidFill>
                        </a:rPr>
                        <a:t>-0.03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9"/>
                          </a:solidFill>
                        </a:rPr>
                        <a:t>-0.16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CCC5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2D2A"/>
                          </a:solidFill>
                        </a:rPr>
                        <a:t>Credit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9"/>
                          </a:solidFill>
                        </a:rPr>
                        <a:t>0.00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9"/>
                          </a:solidFill>
                        </a:rPr>
                        <a:t>0.01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9"/>
                          </a:solidFill>
                        </a:rPr>
                        <a:t>0.01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9"/>
                          </a:solidFill>
                        </a:rPr>
                        <a:t>0.03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9"/>
                          </a:solidFill>
                        </a:rPr>
                        <a:t>0.00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9"/>
                          </a:solidFill>
                        </a:rPr>
                        <a:t>-0.03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2D2A"/>
                          </a:solidFill>
                        </a:rPr>
                        <a:t>Tenure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9"/>
                          </a:solidFill>
                        </a:rPr>
                        <a:t>-0.01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9"/>
                          </a:solidFill>
                        </a:rPr>
                        <a:t>-0.01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9"/>
                          </a:solidFill>
                        </a:rPr>
                        <a:t>0.01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A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9"/>
                          </a:solidFill>
                        </a:rPr>
                        <a:t>-0.03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9"/>
                          </a:solidFill>
                        </a:rPr>
                        <a:t>0.00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9"/>
                          </a:solidFill>
                        </a:rPr>
                        <a:t>-0.01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2D2A"/>
                          </a:solidFill>
                        </a:rPr>
                        <a:t>Churn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0.29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67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9"/>
                          </a:solidFill>
                        </a:rPr>
                        <a:t>0.12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C0B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9"/>
                          </a:solidFill>
                        </a:rPr>
                        <a:t>-0.05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F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9"/>
                          </a:solidFill>
                        </a:rPr>
                        <a:t>-0.16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CCC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9"/>
                          </a:solidFill>
                        </a:rPr>
                        <a:t>-0.03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29"/>
                          </a:solidFill>
                        </a:rPr>
                        <a:t>-0.01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C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2A"/>
                    </a:solidFill>
                  </a:tcPr>
                </a:tc>
              </a:tr>
            </a:tbl>
          </a:graphicData>
        </a:graphic>
      </p:graphicFrame>
      <p:sp>
        <p:nvSpPr>
          <p:cNvPr id="4" name="Heatmap legend"/>
          <p:cNvSpPr txBox="1"/>
          <p:nvPr/>
        </p:nvSpPr>
        <p:spPr>
          <a:xfrm>
            <a:off x="548640" y="43891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Coral = rises with churn  |  Teal = falls with churn</a:t>
            </a:r>
            <a:endParaRPr lang="en-US" sz="1100" dirty="0"/>
          </a:p>
        </p:txBody>
      </p:sp>
      <p:sp>
        <p:nvSpPr>
          <p:cNvPr id="5" name="Insight card 1"/>
          <p:cNvSpPr/>
          <p:nvPr/>
        </p:nvSpPr>
        <p:spPr>
          <a:xfrm>
            <a:off x="6355080" y="1188720"/>
            <a:ext cx="22402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6" name="Insight head 1"/>
          <p:cNvSpPr txBox="1"/>
          <p:nvPr/>
        </p:nvSpPr>
        <p:spPr>
          <a:xfrm>
            <a:off x="6492240" y="126187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Age  +0.29</a:t>
            </a:r>
            <a:endParaRPr lang="en-US" sz="1600" dirty="0"/>
          </a:p>
        </p:txBody>
      </p:sp>
      <p:sp>
        <p:nvSpPr>
          <p:cNvPr id="7" name="Insight text 1"/>
          <p:cNvSpPr txBox="1"/>
          <p:nvPr/>
        </p:nvSpPr>
        <p:spPr>
          <a:xfrm>
            <a:off x="6492240" y="160020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Strongest link: older customers leave more.</a:t>
            </a:r>
            <a:endParaRPr lang="en-US" sz="1200" dirty="0"/>
          </a:p>
        </p:txBody>
      </p:sp>
      <p:sp>
        <p:nvSpPr>
          <p:cNvPr id="8" name="Insight card 2"/>
          <p:cNvSpPr/>
          <p:nvPr/>
        </p:nvSpPr>
        <p:spPr>
          <a:xfrm>
            <a:off x="6355080" y="2286000"/>
            <a:ext cx="22402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9" name="Insight head 2"/>
          <p:cNvSpPr txBox="1"/>
          <p:nvPr/>
        </p:nvSpPr>
        <p:spPr>
          <a:xfrm>
            <a:off x="6492240" y="235915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Active  −0.16</a:t>
            </a:r>
            <a:endParaRPr lang="en-US" sz="1600" dirty="0"/>
          </a:p>
        </p:txBody>
      </p:sp>
      <p:sp>
        <p:nvSpPr>
          <p:cNvPr id="10" name="Insight text 2"/>
          <p:cNvSpPr txBox="1"/>
          <p:nvPr/>
        </p:nvSpPr>
        <p:spPr>
          <a:xfrm>
            <a:off x="6492240" y="26974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Inactive members are more likely to leave.</a:t>
            </a:r>
            <a:endParaRPr lang="en-US" sz="1200" dirty="0"/>
          </a:p>
        </p:txBody>
      </p:sp>
      <p:sp>
        <p:nvSpPr>
          <p:cNvPr id="11" name="Insight card 3"/>
          <p:cNvSpPr/>
          <p:nvPr/>
        </p:nvSpPr>
        <p:spPr>
          <a:xfrm>
            <a:off x="6355080" y="3383280"/>
            <a:ext cx="22402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2" name="Insight head 3"/>
          <p:cNvSpPr txBox="1"/>
          <p:nvPr/>
        </p:nvSpPr>
        <p:spPr>
          <a:xfrm>
            <a:off x="6492240" y="3456432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Balance  +0.12</a:t>
            </a:r>
            <a:endParaRPr lang="en-US" sz="1600" dirty="0"/>
          </a:p>
        </p:txBody>
      </p:sp>
      <p:sp>
        <p:nvSpPr>
          <p:cNvPr id="13" name="Insight text 3"/>
          <p:cNvSpPr txBox="1"/>
          <p:nvPr/>
        </p:nvSpPr>
        <p:spPr>
          <a:xfrm>
            <a:off x="6492240" y="379476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Higher balances show slightly higher churn.</a:t>
            </a:r>
            <a:endParaRPr lang="en-US" sz="1200" dirty="0"/>
          </a:p>
        </p:txBody>
      </p:sp>
      <p:sp>
        <p:nvSpPr>
          <p:cNvPr id="14" name="Source note"/>
          <p:cNvSpPr txBox="1"/>
          <p:nvPr/>
        </p:nvSpPr>
        <p:spPr>
          <a:xfrm>
            <a:off x="548640" y="46634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Pearson correlations, approximate. Prod. = number of products. Credit score, tenure and salary show almost no link to churn.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>
              <a:defRPr sz="1000">
                <a:solidFill>
                  <a:srgbClr val="5B6C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Churn is concentrated in specific groups</a:t>
            </a:r>
            <a:endParaRPr lang="en-US" sz="3200" dirty="0"/>
          </a:p>
        </p:txBody>
      </p:sp>
      <p:sp>
        <p:nvSpPr>
          <p:cNvPr id="3" name="Stat card 1"/>
          <p:cNvSpPr/>
          <p:nvPr/>
        </p:nvSpPr>
        <p:spPr>
          <a:xfrm>
            <a:off x="548640" y="1371600"/>
            <a:ext cx="1874520" cy="283464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4" name="Big stat 1"/>
          <p:cNvSpPr txBox="1"/>
          <p:nvPr/>
        </p:nvSpPr>
        <p:spPr>
          <a:xfrm>
            <a:off x="685800" y="15544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32.4%</a:t>
            </a:r>
            <a:endParaRPr lang="en-US" sz="3600" dirty="0"/>
          </a:p>
        </p:txBody>
      </p:sp>
      <p:sp>
        <p:nvSpPr>
          <p:cNvPr id="5" name="Stat title 1"/>
          <p:cNvSpPr txBox="1"/>
          <p:nvPr/>
        </p:nvSpPr>
        <p:spPr>
          <a:xfrm>
            <a:off x="685800" y="24231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Germany</a:t>
            </a:r>
            <a:endParaRPr lang="en-US" sz="1600" dirty="0"/>
          </a:p>
        </p:txBody>
      </p:sp>
      <p:sp>
        <p:nvSpPr>
          <p:cNvPr id="6" name="Stat text 1"/>
          <p:cNvSpPr txBox="1"/>
          <p:nvPr/>
        </p:nvSpPr>
        <p:spPr>
          <a:xfrm>
            <a:off x="685800" y="31089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vs about 16% in France and Spain</a:t>
            </a:r>
            <a:endParaRPr lang="en-US" sz="1400" dirty="0"/>
          </a:p>
        </p:txBody>
      </p:sp>
      <p:sp>
        <p:nvSpPr>
          <p:cNvPr id="7" name="Stat card 2"/>
          <p:cNvSpPr/>
          <p:nvPr/>
        </p:nvSpPr>
        <p:spPr>
          <a:xfrm>
            <a:off x="2606040" y="1371600"/>
            <a:ext cx="1874520" cy="283464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8" name="Big stat 2"/>
          <p:cNvSpPr txBox="1"/>
          <p:nvPr/>
        </p:nvSpPr>
        <p:spPr>
          <a:xfrm>
            <a:off x="2743200" y="15544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25.1%</a:t>
            </a:r>
            <a:endParaRPr lang="en-US" sz="3600" dirty="0"/>
          </a:p>
        </p:txBody>
      </p:sp>
      <p:sp>
        <p:nvSpPr>
          <p:cNvPr id="9" name="Stat title 2"/>
          <p:cNvSpPr txBox="1"/>
          <p:nvPr/>
        </p:nvSpPr>
        <p:spPr>
          <a:xfrm>
            <a:off x="2743200" y="24231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Female customers</a:t>
            </a:r>
            <a:endParaRPr lang="en-US" sz="1600" dirty="0"/>
          </a:p>
        </p:txBody>
      </p:sp>
      <p:sp>
        <p:nvSpPr>
          <p:cNvPr id="10" name="Stat text 2"/>
          <p:cNvSpPr txBox="1"/>
          <p:nvPr/>
        </p:nvSpPr>
        <p:spPr>
          <a:xfrm>
            <a:off x="2743200" y="31089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vs 16.5% for male customers</a:t>
            </a:r>
            <a:endParaRPr lang="en-US" sz="1400" dirty="0"/>
          </a:p>
        </p:txBody>
      </p:sp>
      <p:sp>
        <p:nvSpPr>
          <p:cNvPr id="11" name="Stat card 3"/>
          <p:cNvSpPr/>
          <p:nvPr/>
        </p:nvSpPr>
        <p:spPr>
          <a:xfrm>
            <a:off x="4663440" y="1371600"/>
            <a:ext cx="1874520" cy="283464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2" name="Big stat 3"/>
          <p:cNvSpPr txBox="1"/>
          <p:nvPr/>
        </p:nvSpPr>
        <p:spPr>
          <a:xfrm>
            <a:off x="4800600" y="15544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26.9%</a:t>
            </a:r>
            <a:endParaRPr lang="en-US" sz="3600" dirty="0"/>
          </a:p>
        </p:txBody>
      </p:sp>
      <p:sp>
        <p:nvSpPr>
          <p:cNvPr id="13" name="Stat title 3"/>
          <p:cNvSpPr txBox="1"/>
          <p:nvPr/>
        </p:nvSpPr>
        <p:spPr>
          <a:xfrm>
            <a:off x="4800600" y="24231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Inactive members</a:t>
            </a:r>
            <a:endParaRPr lang="en-US" sz="1600" dirty="0"/>
          </a:p>
        </p:txBody>
      </p:sp>
      <p:sp>
        <p:nvSpPr>
          <p:cNvPr id="14" name="Stat text 3"/>
          <p:cNvSpPr txBox="1"/>
          <p:nvPr/>
        </p:nvSpPr>
        <p:spPr>
          <a:xfrm>
            <a:off x="4800600" y="31089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vs 14.3% for active members</a:t>
            </a:r>
            <a:endParaRPr lang="en-US" sz="1400" dirty="0"/>
          </a:p>
        </p:txBody>
      </p:sp>
      <p:sp>
        <p:nvSpPr>
          <p:cNvPr id="15" name="Stat card 4"/>
          <p:cNvSpPr/>
          <p:nvPr/>
        </p:nvSpPr>
        <p:spPr>
          <a:xfrm>
            <a:off x="6720840" y="1371600"/>
            <a:ext cx="1874520" cy="2834640"/>
          </a:xfrm>
          <a:prstGeom prst="roundRect">
            <a:avLst>
              <a:gd name="adj" fmla="val 5854"/>
            </a:avLst>
          </a:prstGeom>
          <a:solidFill>
            <a:schemeClr val="bg2"/>
          </a:solidFill>
          <a:ln/>
        </p:spPr>
        <p:txBody>
          <a:bodyPr/>
          <a:p/>
        </p:txBody>
      </p:sp>
      <p:sp>
        <p:nvSpPr>
          <p:cNvPr id="16" name="Big stat 4"/>
          <p:cNvSpPr txBox="1"/>
          <p:nvPr/>
        </p:nvSpPr>
        <p:spPr>
          <a:xfrm>
            <a:off x="6858000" y="15544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34%+</a:t>
            </a:r>
            <a:endParaRPr lang="en-US" sz="3600" dirty="0"/>
          </a:p>
        </p:txBody>
      </p:sp>
      <p:sp>
        <p:nvSpPr>
          <p:cNvPr id="17" name="Stat title 4"/>
          <p:cNvSpPr txBox="1"/>
          <p:nvPr/>
        </p:nvSpPr>
        <p:spPr>
          <a:xfrm>
            <a:off x="6858000" y="24231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Customers aged 40–59</a:t>
            </a:r>
            <a:endParaRPr lang="en-US" sz="1600" dirty="0"/>
          </a:p>
        </p:txBody>
      </p:sp>
      <p:sp>
        <p:nvSpPr>
          <p:cNvPr id="18" name="Stat text 4"/>
          <p:cNvSpPr txBox="1"/>
          <p:nvPr/>
        </p:nvSpPr>
        <p:spPr>
          <a:xfrm>
            <a:off x="6858000" y="310896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vs under 12% for those below 40</a:t>
            </a:r>
            <a:endParaRPr lang="en-US" sz="1400" dirty="0"/>
          </a:p>
        </p:txBody>
      </p:sp>
      <p:sp>
        <p:nvSpPr>
          <p:cNvPr id="19" name="Source note"/>
          <p:cNvSpPr txBox="1"/>
          <p:nvPr/>
        </p:nvSpPr>
        <p:spPr>
          <a:xfrm>
            <a:off x="548640" y="46634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Overall churn rate: 20.4%. Rates by group are churn percentages within each group.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>
              <a:defRPr sz="1000">
                <a:solidFill>
                  <a:srgbClr val="5B6C7D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Age and product count drive churn</a:t>
            </a:r>
            <a:endParaRPr lang="en-US" sz="3200" dirty="0"/>
          </a:p>
        </p:txBody>
      </p:sp>
      <p:graphicFrame>
        <p:nvGraphicFramePr>
          <p:cNvPr id="3" name="Chart age" descr=""/>
          <p:cNvGraphicFramePr/>
          <p:nvPr/>
        </p:nvGraphicFramePr>
        <p:xfrm>
          <a:off x="457200" y="1188720"/>
          <a:ext cx="40233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products" descr=""/>
          <p:cNvGraphicFramePr/>
          <p:nvPr/>
        </p:nvGraphicFramePr>
        <p:xfrm>
          <a:off x="4663440" y="1188720"/>
          <a:ext cx="40233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Chart takeaway"/>
          <p:cNvSpPr txBox="1"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Mid-career customers (40–59) and those with 3–4 products are the highest-risk groups; two products is the safest.</a:t>
            </a:r>
            <a:endParaRPr lang="en-US" sz="1400" dirty="0"/>
          </a:p>
        </p:txBody>
      </p:sp>
      <p:sp>
        <p:nvSpPr>
          <p:cNvPr id="6" name="Source note"/>
          <p:cNvSpPr txBox="1"/>
          <p:nvPr/>
        </p:nvSpPr>
        <p:spPr>
          <a:xfrm>
            <a:off x="548640" y="46634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Approximate rates from the public dataset; very few customers hold 3–4 products.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>
              <a:defRPr sz="1000">
                <a:solidFill>
                  <a:srgbClr val="5B6C7D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Conclusion and next steps</a:t>
            </a:r>
            <a:endParaRPr lang="en-US" sz="3600" dirty="0"/>
          </a:p>
        </p:txBody>
      </p:sp>
      <p:sp>
        <p:nvSpPr>
          <p:cNvPr id="3" name="Conclusion lead"/>
          <p:cNvSpPr txBox="1"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Churn is not random: it clusters by age, activity, geography and product mix.</a:t>
            </a:r>
            <a:endParaRPr lang="en-US" sz="1600" dirty="0"/>
          </a:p>
        </p:txBody>
      </p:sp>
      <p:sp>
        <p:nvSpPr>
          <p:cNvPr id="4" name="Number badge 1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5" name="Number 1"/>
          <p:cNvSpPr txBox="1"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Action title 1"/>
          <p:cNvSpPr txBox="1"/>
          <p:nvPr/>
        </p:nvSpPr>
        <p:spPr>
          <a:xfrm>
            <a:off x="1234440" y="1856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Re-engage inactive members</a:t>
            </a:r>
            <a:endParaRPr lang="en-US" sz="1800" dirty="0"/>
          </a:p>
        </p:txBody>
      </p:sp>
      <p:sp>
        <p:nvSpPr>
          <p:cNvPr id="7" name="Action text 1"/>
          <p:cNvSpPr txBox="1"/>
          <p:nvPr/>
        </p:nvSpPr>
        <p:spPr>
          <a:xfrm>
            <a:off x="1234440" y="22585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Trigger offers and outreach when activity drops.</a:t>
            </a:r>
            <a:endParaRPr lang="en-US" sz="1400" dirty="0"/>
          </a:p>
        </p:txBody>
      </p:sp>
      <p:sp>
        <p:nvSpPr>
          <p:cNvPr id="8" name="Number badge 2"/>
          <p:cNvSpPr/>
          <p:nvPr/>
        </p:nvSpPr>
        <p:spPr>
          <a:xfrm>
            <a:off x="4663440" y="18745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9" name="Number 2"/>
          <p:cNvSpPr txBox="1"/>
          <p:nvPr/>
        </p:nvSpPr>
        <p:spPr>
          <a:xfrm>
            <a:off x="466344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Action title 2"/>
          <p:cNvSpPr txBox="1"/>
          <p:nvPr/>
        </p:nvSpPr>
        <p:spPr>
          <a:xfrm>
            <a:off x="5349240" y="18562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Target the 40–59 segment</a:t>
            </a:r>
            <a:endParaRPr lang="en-US" sz="1800" dirty="0"/>
          </a:p>
        </p:txBody>
      </p:sp>
      <p:sp>
        <p:nvSpPr>
          <p:cNvPr id="11" name="Action text 2"/>
          <p:cNvSpPr txBox="1"/>
          <p:nvPr/>
        </p:nvSpPr>
        <p:spPr>
          <a:xfrm>
            <a:off x="5349240" y="22585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Tailor advice, loyalty and relationship-manager contact.</a:t>
            </a:r>
            <a:endParaRPr lang="en-US" sz="1400" dirty="0"/>
          </a:p>
        </p:txBody>
      </p:sp>
      <p:sp>
        <p:nvSpPr>
          <p:cNvPr id="12" name="Number badge 3"/>
          <p:cNvSpPr/>
          <p:nvPr/>
        </p:nvSpPr>
        <p:spPr>
          <a:xfrm>
            <a:off x="548640" y="32461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3" name="Number 3"/>
          <p:cNvSpPr txBox="1"/>
          <p:nvPr/>
        </p:nvSpPr>
        <p:spPr>
          <a:xfrm>
            <a:off x="54864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Action title 3"/>
          <p:cNvSpPr txBox="1"/>
          <p:nvPr/>
        </p:nvSpPr>
        <p:spPr>
          <a:xfrm>
            <a:off x="1234440" y="3227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Investigate Germany</a:t>
            </a:r>
            <a:endParaRPr lang="en-US" sz="1800" dirty="0"/>
          </a:p>
        </p:txBody>
      </p:sp>
      <p:sp>
        <p:nvSpPr>
          <p:cNvPr id="15" name="Action text 3"/>
          <p:cNvSpPr txBox="1"/>
          <p:nvPr/>
        </p:nvSpPr>
        <p:spPr>
          <a:xfrm>
            <a:off x="1234440" y="36301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Review pricing and service gaps behind the 32% rate.</a:t>
            </a:r>
            <a:endParaRPr lang="en-US" sz="1400" dirty="0"/>
          </a:p>
        </p:txBody>
      </p:sp>
      <p:sp>
        <p:nvSpPr>
          <p:cNvPr id="16" name="Number badge 4"/>
          <p:cNvSpPr/>
          <p:nvPr/>
        </p:nvSpPr>
        <p:spPr>
          <a:xfrm>
            <a:off x="4663440" y="32461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p/>
        </p:txBody>
      </p:sp>
      <p:sp>
        <p:nvSpPr>
          <p:cNvPr id="17" name="Number 4"/>
          <p:cNvSpPr txBox="1"/>
          <p:nvPr/>
        </p:nvSpPr>
        <p:spPr>
          <a:xfrm>
            <a:off x="466344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Action title 4"/>
          <p:cNvSpPr txBox="1"/>
          <p:nvPr/>
        </p:nvSpPr>
        <p:spPr>
          <a:xfrm>
            <a:off x="5349240" y="32278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Review 3–4 product bundles</a:t>
            </a:r>
            <a:endParaRPr lang="en-US" sz="1800" dirty="0"/>
          </a:p>
        </p:txBody>
      </p:sp>
      <p:sp>
        <p:nvSpPr>
          <p:cNvPr id="19" name="Action text 4"/>
          <p:cNvSpPr txBox="1"/>
          <p:nvPr/>
        </p:nvSpPr>
        <p:spPr>
          <a:xfrm>
            <a:off x="5349240" y="3630168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Find out why heavy cross-selling ends in exits.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>
              <a:defRPr sz="1000">
                <a:solidFill>
                  <a:srgbClr val="5B6C7D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B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804672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42744"/>
                </a:solidFill>
                <a:latin typeface="Aptos"/>
              </a:defRPr>
            </a:pPr>
            <a:r>
              <a:t>Project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786384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5B6C7D"/>
                </a:solidFill>
                <a:latin typeface="Aptos"/>
              </a:defRPr>
            </a:pPr>
            <a:r>
              <a:t>What this analysis aims to discover and improve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53312"/>
            <a:ext cx="7955279" cy="22860"/>
          </a:xfrm>
          <a:prstGeom prst="rect">
            <a:avLst/>
          </a:prstGeom>
          <a:solidFill>
            <a:srgbClr val="1B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874519"/>
            <a:ext cx="2395728" cy="2148840"/>
          </a:xfrm>
          <a:prstGeom prst="roundRect">
            <a:avLst/>
          </a:prstGeom>
          <a:solidFill>
            <a:srgbClr val="F1F6F9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59" y="2057400"/>
            <a:ext cx="384048" cy="384048"/>
          </a:xfrm>
          <a:prstGeom prst="ellipse">
            <a:avLst/>
          </a:prstGeom>
          <a:solidFill>
            <a:srgbClr val="1B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2089403"/>
            <a:ext cx="384048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2039112"/>
            <a:ext cx="1572768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42744"/>
                </a:solidFill>
                <a:latin typeface="Aptos"/>
              </a:defRPr>
            </a:pPr>
            <a:r>
              <a:t>Identify churn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87752"/>
            <a:ext cx="1956816" cy="1325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A3746"/>
                </a:solidFill>
                <a:latin typeface="Aptos"/>
              </a:defRPr>
            </a:pPr>
            <a:r>
              <a:t>Measure how many customers leave and distinguish churned customers from retained customers.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28415" y="1874519"/>
            <a:ext cx="2395728" cy="2148840"/>
          </a:xfrm>
          <a:prstGeom prst="roundRect">
            <a:avLst/>
          </a:prstGeom>
          <a:solidFill>
            <a:srgbClr val="F1F6F9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93008" y="2057400"/>
            <a:ext cx="384048" cy="384048"/>
          </a:xfrm>
          <a:prstGeom prst="ellipse">
            <a:avLst/>
          </a:prstGeom>
          <a:solidFill>
            <a:srgbClr val="1B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2089403"/>
            <a:ext cx="384048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86783" y="2039112"/>
            <a:ext cx="1572768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42744"/>
                </a:solidFill>
                <a:latin typeface="Aptos"/>
              </a:defRPr>
            </a:pPr>
            <a:r>
              <a:t>Find patterns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2587752"/>
            <a:ext cx="1956816" cy="1325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A3746"/>
                </a:solidFill>
                <a:latin typeface="Aptos"/>
              </a:defRPr>
            </a:pPr>
            <a:r>
              <a:t>Compare churn across age groups, countries, activity levels, balances and product counts.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98464" y="1874519"/>
            <a:ext cx="2395728" cy="2148840"/>
          </a:xfrm>
          <a:prstGeom prst="roundRect">
            <a:avLst/>
          </a:prstGeom>
          <a:solidFill>
            <a:srgbClr val="F1F6F9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63055" y="2057400"/>
            <a:ext cx="384048" cy="384048"/>
          </a:xfrm>
          <a:prstGeom prst="ellipse">
            <a:avLst/>
          </a:prstGeom>
          <a:solidFill>
            <a:srgbClr val="1B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63055" y="2089403"/>
            <a:ext cx="384048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1" y="2039112"/>
            <a:ext cx="1572768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42744"/>
                </a:solidFill>
                <a:latin typeface="Aptos"/>
              </a:defRPr>
            </a:pPr>
            <a:r>
              <a:t>Recommend 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2587752"/>
            <a:ext cx="1956816" cy="1325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A3746"/>
                </a:solidFill>
                <a:latin typeface="Aptos"/>
              </a:defRPr>
            </a:pPr>
            <a:r>
              <a:t>Turn findings into practical retention ideas that the bank can investigate and test.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370832"/>
            <a:ext cx="768096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1B9488"/>
                </a:solidFill>
                <a:latin typeface="Aptos"/>
              </a:defRPr>
            </a:pPr>
            <a:r>
              <a:t>Key question: Which customer groups show higher churn, and what can the bank do to retain them?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73659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>
                <a:solidFill>
                  <a:srgbClr val="5B6C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B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0040"/>
            <a:ext cx="804672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142744"/>
                </a:solidFill>
                <a:latin typeface="Aptos"/>
              </a:defRPr>
            </a:pPr>
            <a:r>
              <a:t>Dataset &amp; Analysis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914400"/>
            <a:ext cx="786384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5B6C7D"/>
                </a:solidFill>
                <a:latin typeface="Aptos"/>
              </a:defRPr>
            </a:pPr>
            <a:r>
              <a:t>A clear view of the information used and how it is analysed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53312"/>
            <a:ext cx="7955279" cy="22860"/>
          </a:xfrm>
          <a:prstGeom prst="rect">
            <a:avLst/>
          </a:prstGeom>
          <a:solidFill>
            <a:srgbClr val="1B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3703320" cy="1417320"/>
          </a:xfrm>
          <a:prstGeom prst="roundRect">
            <a:avLst/>
          </a:prstGeom>
          <a:solidFill>
            <a:srgbClr val="F1F6F9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59" y="1874520"/>
            <a:ext cx="384048" cy="384048"/>
          </a:xfrm>
          <a:prstGeom prst="ellipse">
            <a:avLst/>
          </a:prstGeom>
          <a:solidFill>
            <a:srgbClr val="1B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906524"/>
            <a:ext cx="384048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1856232"/>
            <a:ext cx="28803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42744"/>
                </a:solidFill>
                <a:latin typeface="Aptos"/>
              </a:defRPr>
            </a:pPr>
            <a:r>
              <a:t>Dataset overview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404872"/>
            <a:ext cx="32644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A3746"/>
                </a:solidFill>
                <a:latin typeface="Aptos"/>
              </a:defRPr>
            </a:pPr>
            <a:r>
              <a:t>Public Bank Customer Churn / Churn Modelling dataset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2A3746"/>
                </a:solidFill>
                <a:latin typeface="Aptos"/>
              </a:defRPr>
            </a:pPr>
            <a:r>
              <a:t>10,000 customer records • 10 customer attributes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2A3746"/>
                </a:solidFill>
                <a:latin typeface="Aptos"/>
              </a:defRPr>
            </a:pPr>
            <a:r>
              <a:t>Target: churn flag (left = yes/no)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90288" y="1691640"/>
            <a:ext cx="3703320" cy="1417320"/>
          </a:xfrm>
          <a:prstGeom prst="roundRect">
            <a:avLst/>
          </a:prstGeom>
          <a:solidFill>
            <a:srgbClr val="F1F6F9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79" y="1874520"/>
            <a:ext cx="384048" cy="384048"/>
          </a:xfrm>
          <a:prstGeom prst="ellipse">
            <a:avLst/>
          </a:prstGeom>
          <a:solidFill>
            <a:srgbClr val="1B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79" y="1906524"/>
            <a:ext cx="384048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48655" y="1856232"/>
            <a:ext cx="28803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42744"/>
                </a:solidFill>
                <a:latin typeface="Aptos"/>
              </a:defRPr>
            </a:pPr>
            <a:r>
              <a:t>Main attributes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9744" y="2404872"/>
            <a:ext cx="32644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A3746"/>
                </a:solidFill>
                <a:latin typeface="Aptos"/>
              </a:defRPr>
            </a:pPr>
            <a:r>
              <a:t>Age • Geography • Gender • Balance • Tenure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2A3746"/>
                </a:solidFill>
                <a:latin typeface="Aptos"/>
              </a:defRPr>
            </a:pPr>
            <a:r>
              <a:t>Number of products • Active membership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2A3746"/>
                </a:solidFill>
                <a:latin typeface="Aptos"/>
              </a:defRPr>
            </a:pPr>
            <a:r>
              <a:t>Credit score • Card ownership • Estimated salary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310128"/>
            <a:ext cx="3703320" cy="1417320"/>
          </a:xfrm>
          <a:prstGeom prst="roundRect">
            <a:avLst/>
          </a:prstGeom>
          <a:solidFill>
            <a:srgbClr val="F1F6F9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59" y="3493008"/>
            <a:ext cx="384048" cy="384048"/>
          </a:xfrm>
          <a:prstGeom prst="ellipse">
            <a:avLst/>
          </a:prstGeom>
          <a:solidFill>
            <a:srgbClr val="1B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3525012"/>
            <a:ext cx="384048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6736" y="3474720"/>
            <a:ext cx="28803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42744"/>
                </a:solidFill>
                <a:latin typeface="Aptos"/>
              </a:defRPr>
            </a:pPr>
            <a:r>
              <a:t>Analysis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4023360"/>
            <a:ext cx="32644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A3746"/>
                </a:solidFill>
                <a:latin typeface="Aptos"/>
              </a:defRPr>
            </a:pPr>
            <a:r>
              <a:t>Check data quality, summarise churn, compare customer segments, and inspect correlations.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90288" y="3310128"/>
            <a:ext cx="3703320" cy="1417320"/>
          </a:xfrm>
          <a:prstGeom prst="roundRect">
            <a:avLst/>
          </a:prstGeom>
          <a:solidFill>
            <a:srgbClr val="F1F6F9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754879" y="3493008"/>
            <a:ext cx="384048" cy="384048"/>
          </a:xfrm>
          <a:prstGeom prst="ellipse">
            <a:avLst/>
          </a:prstGeom>
          <a:solidFill>
            <a:srgbClr val="1B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79" y="3525012"/>
            <a:ext cx="384048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>
              <a:spcAft>
                <a:spcPts val="6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48655" y="3474720"/>
            <a:ext cx="288036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142744"/>
                </a:solidFill>
                <a:latin typeface="Aptos"/>
              </a:defRPr>
            </a:pPr>
            <a:r>
              <a:t>Tools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9744" y="4023360"/>
            <a:ext cx="3264408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2A3746"/>
                </a:solidFill>
                <a:latin typeface="Aptos"/>
              </a:defRPr>
            </a:pPr>
            <a:r>
              <a:t>Add the tools actually used in your project (for example, Excel or Python with Pandas and Matplotlib). Do not list tools you did not use.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828032"/>
            <a:ext cx="75895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5B6C7D"/>
                </a:solidFill>
                <a:latin typeface="Aptos"/>
              </a:defRPr>
            </a:pPr>
            <a:r>
              <a:t>Note: Verify dataset counts and rates against the exact file used.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4736592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defRPr sz="1000">
                <a:solidFill>
                  <a:srgbClr val="5B6C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urn Analysis">
  <a:themeElements>
    <a:clrScheme name="Churn Analysis">
      <a:dk1>
        <a:srgbClr val="1B2A29"/>
      </a:dk1>
      <a:lt1>
        <a:srgbClr val="FFFFFF"/>
      </a:lt1>
      <a:dk2>
        <a:srgbClr val="0F2D2A"/>
      </a:dk2>
      <a:lt2>
        <a:srgbClr val="EAF3F1"/>
      </a:lt2>
      <a:accent1>
        <a:srgbClr val="E4572E"/>
      </a:accent1>
      <a:accent2>
        <a:srgbClr val="1B998B"/>
      </a:accent2>
      <a:accent3>
        <a:srgbClr val="F2B134"/>
      </a:accent3>
      <a:accent4>
        <a:srgbClr val="2E4057"/>
      </a:accent4>
      <a:accent5>
        <a:srgbClr val="7FB7AE"/>
      </a:accent5>
      <a:accent6>
        <a:srgbClr val="5B6770"/>
      </a:accent6>
      <a:hlink>
        <a:srgbClr val="1B998B"/>
      </a:hlink>
      <a:folHlink>
        <a:srgbClr val="5B6770"/>
      </a:folHlink>
    </a:clrScheme>
    <a:fontScheme name="Churn Analysi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Customer Churn Analysis</dc:title>
  <dc:subject>PptxGenJS Presentation</dc:subject>
  <dc:creator>PptxGenJS</dc:creator>
  <cp:lastModifiedBy>PptxGenJS</cp:lastModifiedBy>
  <cp:revision>1</cp:revision>
  <dcterms:created xsi:type="dcterms:W3CDTF">2026-10-21T05:13:25Z</dcterms:created>
  <dcterms:modified xsi:type="dcterms:W3CDTF">2026-10-21T05:13:25Z</dcterms:modified>
</cp:coreProperties>
</file>